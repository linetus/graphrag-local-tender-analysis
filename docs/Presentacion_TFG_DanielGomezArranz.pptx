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P@3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7B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A3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3C6E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GraphRAG
Completo</c:v>
                  </c:pt>
                  <c:pt idx="1">
                    <c:v>Sin
CrossEncoder</c:v>
                  </c:pt>
                  <c:pt idx="2">
                    <c:v>Sin
Optimización</c:v>
                  </c:pt>
                  <c:pt idx="3">
                    <c:v>Sin
Propag.
Familiar</c:v>
                  </c:pt>
                  <c:pt idx="4">
                    <c:v>RAG
Vectorial
Puro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</c:v>
                </c:pt>
                <c:pt idx="1">
                  <c:v>0.7</c:v>
                </c:pt>
                <c:pt idx="2">
                  <c:v>0.67</c:v>
                </c:pt>
                <c:pt idx="3">
                  <c:v>0.6</c:v>
                </c:pt>
                <c:pt idx="4">
                  <c:v>0.53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Correcto (75%)</c:v>
                </c:pt>
                <c:pt idx="1">
                  <c:v>Parcial (25%)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GraphRAG para el Análisis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Documentación Técnica con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Lenguaje Locales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2880360"/>
            <a:ext cx="5852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443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— Grado en Ingeniería Informática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015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Gómez Arranz</a:t>
            </a:r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Tutor: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Vicente Álvarez Bravo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Ingeniería Informática de Segovia — Universidad de Valladolid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8813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Problema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TFG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865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540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Extracción Jerárquica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7216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Conocimiento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088136"/>
            <a:ext cx="365760" cy="36576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10515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Búsqueda Híbrida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755648"/>
            <a:ext cx="365760" cy="36576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7190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Estratégico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423160"/>
            <a:ext cx="365760" cy="36576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3865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Evaluación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3090672"/>
            <a:ext cx="365760" cy="36576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0540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GraphRAG?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los documentos técnicos extensos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39496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25880"/>
            <a:ext cx="8001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LLMs tienen ventana de contexto limitada — no pueden procesar documentos de 50-100 páginas completos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38528"/>
            <a:ext cx="64008" cy="5394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38528"/>
            <a:ext cx="8001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RAG tradicionales fragmentan el texto de forma fija — pierden la jerarquía documental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539496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51176"/>
            <a:ext cx="64008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51176"/>
            <a:ext cx="8001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técnicos (pliegos de contratación) tienen hasta 4 niveles de anidación (ej. 1.2.3.4)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8229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63824"/>
            <a:ext cx="64008" cy="5394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163824"/>
            <a:ext cx="8001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breves solo cobran sentido bajo el capítulo superior — el contexto jerárquico es crítico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76472"/>
            <a:ext cx="8229600" cy="539496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76472"/>
            <a:ext cx="64008" cy="5394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776472"/>
            <a:ext cx="8001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sensible en entornos corporativos — no se puede enviar a servicios cloud externos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principal: Pliegos de Prescripciones Técnicas (PPT) y Pliegos de Cláusulas Administrativas Particulares (PCAP) de la contratación pública española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TFG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223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9248" y="1005840"/>
            <a:ext cx="10058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99248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722376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99248" y="1389888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898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documentos PDF con estructura jerárquica compleja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99248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7223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1865376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86537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grafo de conocimiento documental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99248" y="1865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722376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2340864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4086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al RAG tradicional en preguntas con dependencia contextual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99248" y="23408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816352"/>
            <a:ext cx="7223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9248" y="281635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1635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inferencia completamente local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99248" y="28163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722376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99248" y="3291840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918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automática de estrategia de respuesta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99248" y="3291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7223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9248" y="3767328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6732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consolidada multidocumento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99248" y="3767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242816"/>
            <a:ext cx="722376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242816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4281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de análisis de licitaciones extensas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99248" y="42428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GraphRAG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16128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5270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chunk_extractor.py → Chunks jerárquicos + metadatos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395728"/>
            <a:ext cx="530352" cy="530352"/>
          </a:xfrm>
          <a:prstGeom prst="ellipse">
            <a:avLst/>
          </a:prstGeom>
          <a:solidFill>
            <a:srgbClr val="1E3D73"/>
          </a:solidFill>
          <a:ln w="12700">
            <a:solidFill>
              <a:srgbClr val="1E3D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7614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→ NetworkX → Aristas jerárquicas, secuenciales y semánticas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630168"/>
            <a:ext cx="530352" cy="53035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30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995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(all-MiniLM-L6-v2) → vectores por chunk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11480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1161288"/>
            <a:ext cx="530352" cy="5303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15270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document_strategy_agent.py → Selección PARTIAL / FULL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11480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2395728"/>
            <a:ext cx="530352" cy="5303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7614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Vectorial → CrossEncoder Reranker → Propagación familiar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411480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630168"/>
            <a:ext cx="530352" cy="5303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630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995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Subgrafo de conocimiento → Ollama (llama3.1:8b) → Respuesta final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8229600" cy="301752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NetworkX · SentenceTransformers · rank_bm25 · Ollama · LangGraph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Jerárquica de PDFs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chunk_extractor.py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adaptativa del TOC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6362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dual: hipervínculos internos + regex por posición 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1109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de jerarquía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4 niveles de anidación (ej. 1.2.3.4)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0545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 márgenes (10%)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75234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n.º de página, encabezados y notas al pie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9981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con TheFuzz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4670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robusta entre títulos del índice y texto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75888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9417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por chunk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9410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páginas, título normalizado, nivel de jerarquía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1298448"/>
            <a:ext cx="3063240" cy="2971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1371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18745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23560" y="22585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primarios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23560" y="3008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Subsecciones (Nivel 2+)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337413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623560" y="37581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metadatos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Conocimiento con NetworkX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02920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5603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133856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Jerárquicas (padre-hijo)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444752"/>
            <a:ext cx="4645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Preservan la estructura del documento; permiten heredar contexto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256032" cy="7498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975104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4645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 secciones hermanas consecutivas dentro de un documento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502920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61488"/>
            <a:ext cx="25603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816352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Semánticas (τ ≥ 0.65)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3127248"/>
            <a:ext cx="4645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 chunks similares entre sí y entre documentos distintos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1078992"/>
            <a:ext cx="2880360" cy="2743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114300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Evaluación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146304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documentos · 150 páginas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18288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06440" y="2121408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(chunks)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232257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06440" y="2615184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jerárq. + seq.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281635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6440" y="310896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semánticas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331012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06440" y="360273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chunk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42232"/>
            <a:ext cx="82296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4223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familiar: 95% de los nodos que quedaban fuera del Top-5 con RAG vectorial puro suben al Top-3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Híbrida + Propagación de Relevancia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0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27632" y="10515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exactos: códigos normativos, fechas, cifras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572000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10972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27632" y="17830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— captura intención semántica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4572000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10972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27632" y="25146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final — elimina falsos positivos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572000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1097280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46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Scores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27632" y="32461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chunk(0.3) + padre(0.9) → score combinado 0.6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578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por componente (P@3)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29200" y="1371600"/>
          <a:ext cx="3657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4645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completo vs. RAG puro: P@3 de 0.83 vs. 0.53 — mejora relativa del 36.1%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Selección de Estrategia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document_strategy_agent.py  ·  Ollama llama3.1:8b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híbrida en el grafo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específicas factuales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&lt; 30 seg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801368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completa del documento en contexto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globales y comparativas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consumo de tokens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8229600" cy="777240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98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consulta: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medidas de protección física se exigen...?"</a:t>
            </a:r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"Protección física rack de comunicaciones"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2743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4233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acierto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970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48/50 consultas correctas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3749040"/>
            <a:ext cx="2743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7947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37560" y="4233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448970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elegido para síntesis global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3749040"/>
            <a:ext cx="2743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7947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4233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48970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de tipo FULL innecesario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Ablación — Precision@3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preguntas · 6 documentos públicos · Métrica: P@3 (fragmento correcto en Top-3)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7592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371600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del Sistema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vs. Completo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completo (GraphRAG)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propagación familiar de relevancia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optimización de consulta por agente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Cross-Encoder (solo BM25 + embeddings)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vectorial puro (chunking fijo, sin grafo)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contribuye de forma independiente y acumulativa al rendimiento global del sistema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Comparativa con Métricas Automáticas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preguntas · Documentos CCN-STIC-817, CCN-STIC-812, INCIBE · Baseline = llama3.1:8b sin contexto RAG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7592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absoluto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relativo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Similarity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en Token F1 (+114%) es la mayor: sin contexto, el modelo genera respuestas fluidas pero con vocabulario distinto al del texto de referencia.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a Dominio de Ciberseguridad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sobre CCN-STIC-817, CCN-STIC-812 e INCIBE — 8 preguntas factuales específicas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74320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447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 (S)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353312"/>
            <a:ext cx="2743200" cy="14630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447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correcto (P)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353312"/>
            <a:ext cx="2743200" cy="1463040"/>
          </a:xfrm>
          <a:prstGeom prst="rect">
            <a:avLst/>
          </a:prstGeom>
          <a:solidFill>
            <a:srgbClr val="FFEBEE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4447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Incorrecto (N)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4436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estratégico: 8/8 consultas clasificadas como PARTIAL con confianza 8/10 — comportamiento correcto para preguntas factuales específicas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21792"/>
          </a:xfrm>
          <a:prstGeom prst="rect">
            <a:avLst/>
          </a:prstGeom>
          <a:solidFill>
            <a:srgbClr val="F8FA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0332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medio por consulta: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~345 tokens (agente) + ~31,760 tokens (retrieval)</a:t>
            </a:r>
            <a:pPr indent="0" marL="0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dentro de la ventana de 60,000 tokens del modelo</a:t>
            </a:r>
            <a:endParaRPr lang="en-US" sz="11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080760" y="2743200"/>
          <a:ext cx="26060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Local vs. API de ChatGPT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vía Ollama  vs.  gpt-4o-mini vía OpenAI API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7592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Operativa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llama3.1:8b  (Local)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 (API)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PARTIAL (~5.000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FULL (~50.000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~220 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 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 generación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tok/seg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tok/seg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por consulta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~0.005 $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(ejecución 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a servidores externos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07992"/>
            <a:ext cx="8229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07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local elegido por confidencialidad de los pliegos. La arquitectura GraphRAG es agnóstica al modelo subyacente.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0116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24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Eficacia de la estructura de grafos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propagación familiar redujo del 40% al 5% los fragmentos críticos fuera del Top-5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20116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de datos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1122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100% local con llama3.1:8b — viable para entornos corporativos con restricciones de privacidad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8229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87168"/>
            <a:ext cx="201168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328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agéntica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8163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 estrategia reduce el ruido semántico ~30% con 96% de tasa de acierto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91256"/>
            <a:ext cx="201168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369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productividad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5204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relevantes en &lt;30 seg en modo PARTIAL vs. lectura manual de 50-100 páginas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95344"/>
            <a:ext cx="8229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95344"/>
            <a:ext cx="201168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410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total de requisitos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22452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RF-01..RF-12 (funcionales) y RNF-01..RNF-06 (no funcionales) — todos satisfechos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clave: la mayor dificultad técnica fue la extracción jerárquica, no el motor de recuperación.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Trabajo Futuro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F8FAFF"/>
          </a:solidFill>
          <a:ln w="10160">
            <a:solidFill>
              <a:srgbClr val="D9E1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16128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14300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escalabilidad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536192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ChromaDB o FAISS para consultas sin reprocesar documentos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14800" cy="1097280"/>
          </a:xfrm>
          <a:prstGeom prst="rect">
            <a:avLst/>
          </a:prstGeom>
          <a:solidFill>
            <a:srgbClr val="F8FAFF"/>
          </a:solidFill>
          <a:ln w="10160">
            <a:solidFill>
              <a:srgbClr val="D9E1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161288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04104" y="114300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04104" y="1536192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para procesar documentos escaneados sin capa de texto seleccionable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4114800" cy="1097280"/>
          </a:xfrm>
          <a:prstGeom prst="rect">
            <a:avLst/>
          </a:prstGeom>
          <a:solidFill>
            <a:srgbClr val="F8FAFF"/>
          </a:solidFill>
          <a:ln w="10160">
            <a:solidFill>
              <a:srgbClr val="D9E1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41401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239572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de "Lost in the Middle"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2788920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Reordenamiento de contexto posicionando fragmentos clave en los extremos del prompt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304288"/>
            <a:ext cx="4114800" cy="1097280"/>
          </a:xfrm>
          <a:prstGeom prst="rect">
            <a:avLst/>
          </a:prstGeom>
          <a:solidFill>
            <a:srgbClr val="F8FAFF"/>
          </a:solidFill>
          <a:ln w="10160">
            <a:solidFill>
              <a:srgbClr val="D9E1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414016"/>
            <a:ext cx="420624" cy="42062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04104" y="239572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de grafos y embeddings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04104" y="2788920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tiempo de arranque para documentos ya procesados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57016"/>
            <a:ext cx="4114800" cy="1097280"/>
          </a:xfrm>
          <a:prstGeom prst="rect">
            <a:avLst/>
          </a:prstGeom>
          <a:solidFill>
            <a:srgbClr val="F8FAFF"/>
          </a:solidFill>
          <a:ln w="10160">
            <a:solidFill>
              <a:srgbClr val="D9E1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3666744"/>
            <a:ext cx="420624" cy="42062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" y="3648456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704" y="4041648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Evolucionar la CLI hacia una aplicación Streamlit o Gradio para perfiles no técnicos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557016"/>
            <a:ext cx="4114800" cy="1097280"/>
          </a:xfrm>
          <a:prstGeom prst="rect">
            <a:avLst/>
          </a:prstGeom>
          <a:solidFill>
            <a:srgbClr val="F8FAFF"/>
          </a:solidFill>
          <a:ln w="10160">
            <a:solidFill>
              <a:srgbClr val="D9E1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666744"/>
            <a:ext cx="420624" cy="42062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04104" y="3648456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Modelo-juez externo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04104" y="4041648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GPT-4o para eliminar el sesgo de autoconfirmación en métricas RAGAS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95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Gómez Arranz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dagoar3443@gmail.com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9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Dr. José Vicente Álvarez Bravo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9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Ingeniería Informática de Segovia — Universidad de Valladolid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GraphRAG para el Análisis de Documentación Técnica con Modelos de Lenguaje Locales</dc:title>
  <dc:subject>PptxGenJS Presentation</dc:subject>
  <dc:creator>Daniel Gómez Arranz</dc:creator>
  <cp:lastModifiedBy>Daniel Gómez Arranz</cp:lastModifiedBy>
  <cp:revision>1</cp:revision>
  <dcterms:created xsi:type="dcterms:W3CDTF">2026-06-05T21:29:07Z</dcterms:created>
  <dcterms:modified xsi:type="dcterms:W3CDTF">2026-06-05T21:29:07Z</dcterms:modified>
</cp:coreProperties>
</file>